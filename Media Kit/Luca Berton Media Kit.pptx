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005030000000200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72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18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mailto:luca@lucaberto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34" y="0"/>
            <a:ext cx="5481932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70227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Luca Berton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6280190" y="3640574"/>
            <a:ext cx="6115883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 Native Engineering Leader &amp; Author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80190" y="437066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Specializing in AWS/Azure/GCP, Kubernetes, Ansible, Terraform, and end-to-end MLOps. Building secure, scalable platforms that ship and save.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611862"/>
            <a:ext cx="8863608" cy="764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Engineering Excellence at Scale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78669" y="1910477"/>
            <a:ext cx="7626667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 Berton is a cloud native engineering leader with deep expertise across multi-cloud environments, container orchestration, and full-stack MLOps. I designs high-availability, secure platforms and has led automation at million-resource scale, driving $3M+ yearly savings and +25% operational efficiency.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78669" y="3890605"/>
            <a:ext cx="7626667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work spans resilient hybrid cloud solutions compliant with SOC 2 and ISO 27001, AI-driven ESG products serving 100+ SMEs, and GPU workload optimization for enterprise ML pipelines.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955643" y="2071807"/>
            <a:ext cx="4903589" cy="734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50"/>
              </a:lnSpc>
              <a:buNone/>
            </a:pPr>
            <a:r>
              <a:rPr lang="en-US" sz="5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1M+</a:t>
            </a:r>
            <a:endParaRPr lang="en-US" sz="5750" dirty="0"/>
          </a:p>
        </p:txBody>
      </p:sp>
      <p:sp>
        <p:nvSpPr>
          <p:cNvPr id="6" name="Text 4"/>
          <p:cNvSpPr/>
          <p:nvPr/>
        </p:nvSpPr>
        <p:spPr>
          <a:xfrm>
            <a:off x="9877782" y="3083957"/>
            <a:ext cx="3059311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Resources Automated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55643" y="4022527"/>
            <a:ext cx="4903589" cy="734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50"/>
              </a:lnSpc>
              <a:buNone/>
            </a:pPr>
            <a:r>
              <a:rPr lang="en-US" sz="5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$3M+</a:t>
            </a:r>
            <a:endParaRPr lang="en-US" sz="5750" dirty="0"/>
          </a:p>
        </p:txBody>
      </p:sp>
      <p:sp>
        <p:nvSpPr>
          <p:cNvPr id="8" name="Text 6"/>
          <p:cNvSpPr/>
          <p:nvPr/>
        </p:nvSpPr>
        <p:spPr>
          <a:xfrm>
            <a:off x="9877782" y="5034677"/>
            <a:ext cx="3059311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Annual Savings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955643" y="5973247"/>
            <a:ext cx="4903589" cy="734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50"/>
              </a:lnSpc>
              <a:buNone/>
            </a:pPr>
            <a:r>
              <a:rPr lang="en-US" sz="5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25%</a:t>
            </a:r>
            <a:endParaRPr lang="en-US" sz="5750" dirty="0"/>
          </a:p>
        </p:txBody>
      </p:sp>
      <p:sp>
        <p:nvSpPr>
          <p:cNvPr id="10" name="Text 8"/>
          <p:cNvSpPr/>
          <p:nvPr/>
        </p:nvSpPr>
        <p:spPr>
          <a:xfrm>
            <a:off x="9877782" y="6985397"/>
            <a:ext cx="3059311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Efficiency Gain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3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5039" y="423267"/>
            <a:ext cx="4232791" cy="52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Expertise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025039" y="1183124"/>
            <a:ext cx="8066723" cy="1541502"/>
          </a:xfrm>
          <a:prstGeom prst="roundRect">
            <a:avLst>
              <a:gd name="adj" fmla="val 419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27538" y="1344573"/>
            <a:ext cx="461724" cy="461724"/>
          </a:xfrm>
          <a:prstGeom prst="roundRect">
            <a:avLst>
              <a:gd name="adj" fmla="val 19802058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4458" y="1471493"/>
            <a:ext cx="207764" cy="2077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57786" y="1960126"/>
            <a:ext cx="2201108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Multi-Cloud Platforms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186488" y="2316956"/>
            <a:ext cx="774382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AWS, Azure, GCP architecture and deployment at enterprise scale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25039" y="2878455"/>
            <a:ext cx="8066723" cy="1541502"/>
          </a:xfrm>
          <a:prstGeom prst="roundRect">
            <a:avLst>
              <a:gd name="adj" fmla="val 419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9827538" y="3039904"/>
            <a:ext cx="461724" cy="461724"/>
          </a:xfrm>
          <a:prstGeom prst="roundRect">
            <a:avLst>
              <a:gd name="adj" fmla="val 19802058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4458" y="3166824"/>
            <a:ext cx="207764" cy="2077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01207" y="3655457"/>
            <a:ext cx="271438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Kubernetes &amp; Orchestration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186488" y="4012287"/>
            <a:ext cx="774382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High-availability clusters, GPU scheduling, multi-tenant security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25039" y="4573786"/>
            <a:ext cx="8066723" cy="1541502"/>
          </a:xfrm>
          <a:prstGeom prst="roundRect">
            <a:avLst>
              <a:gd name="adj" fmla="val 419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827538" y="4735235"/>
            <a:ext cx="461724" cy="461724"/>
          </a:xfrm>
          <a:prstGeom prst="roundRect">
            <a:avLst>
              <a:gd name="adj" fmla="val 19802058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54458" y="4862155"/>
            <a:ext cx="207764" cy="2077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7311" y="5350788"/>
            <a:ext cx="2182178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Infrastructure as Code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186488" y="5707618"/>
            <a:ext cx="774382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Ansible, Terraform, CI/CD pipelines automating millions of resources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25039" y="6269117"/>
            <a:ext cx="8066723" cy="1541502"/>
          </a:xfrm>
          <a:prstGeom prst="roundRect">
            <a:avLst>
              <a:gd name="adj" fmla="val 419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9827538" y="6430566"/>
            <a:ext cx="461724" cy="461724"/>
          </a:xfrm>
          <a:prstGeom prst="roundRect">
            <a:avLst>
              <a:gd name="adj" fmla="val 19802058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54458" y="6557486"/>
            <a:ext cx="207764" cy="2077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00173" y="7046119"/>
            <a:ext cx="211633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End-to-End MLOps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6186488" y="7402949"/>
            <a:ext cx="774382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orchestration, feature stores, observability, cost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502" y="888087"/>
            <a:ext cx="6085523" cy="760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950"/>
              </a:lnSpc>
              <a:buNone/>
            </a:pPr>
            <a:r>
              <a:rPr lang="en-US" sz="47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Professional Journey</a:t>
            </a:r>
            <a:endParaRPr lang="en-US" sz="4750" dirty="0"/>
          </a:p>
        </p:txBody>
      </p:sp>
      <p:sp>
        <p:nvSpPr>
          <p:cNvPr id="3" name="Shape 1"/>
          <p:cNvSpPr/>
          <p:nvPr/>
        </p:nvSpPr>
        <p:spPr>
          <a:xfrm>
            <a:off x="7299960" y="2091214"/>
            <a:ext cx="30480" cy="5250180"/>
          </a:xfrm>
          <a:prstGeom prst="roundRect">
            <a:avLst>
              <a:gd name="adj" fmla="val 304935"/>
            </a:avLst>
          </a:prstGeom>
          <a:solidFill>
            <a:srgbClr val="C6B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33006" y="2324814"/>
            <a:ext cx="663773" cy="30480"/>
          </a:xfrm>
          <a:prstGeom prst="roundRect">
            <a:avLst>
              <a:gd name="adj" fmla="val 304935"/>
            </a:avLst>
          </a:prstGeom>
          <a:solidFill>
            <a:srgbClr val="C6B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66300" y="2091214"/>
            <a:ext cx="497800" cy="497800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618" y="2111871"/>
            <a:ext cx="365046" cy="456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811768" y="2167176"/>
            <a:ext cx="5396984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Dell Technologies — Senior Consultant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774502" y="2680335"/>
            <a:ext cx="5434251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2024–Present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4502" y="3167182"/>
            <a:ext cx="5434251" cy="141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cloud native transformations for major European financial institutions including BPCE, Société Générale, and ABN AMRO. Architected AI-driven ESG calculators serving 100+ SMEs.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33620" y="3652480"/>
            <a:ext cx="663773" cy="30480"/>
          </a:xfrm>
          <a:prstGeom prst="roundRect">
            <a:avLst>
              <a:gd name="adj" fmla="val 304935"/>
            </a:avLst>
          </a:prstGeom>
          <a:solidFill>
            <a:srgbClr val="C6B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66300" y="3418880"/>
            <a:ext cx="497800" cy="497800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618" y="3439537"/>
            <a:ext cx="365046" cy="456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8421648" y="3494842"/>
            <a:ext cx="512314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JPMorgan Chase — VP Infrastructure</a:t>
            </a:r>
            <a:endParaRPr lang="en-US" sz="2350" dirty="0"/>
          </a:p>
        </p:txBody>
      </p:sp>
      <p:sp>
        <p:nvSpPr>
          <p:cNvPr id="14" name="Text 12"/>
          <p:cNvSpPr/>
          <p:nvPr/>
        </p:nvSpPr>
        <p:spPr>
          <a:xfrm>
            <a:off x="8421648" y="4008001"/>
            <a:ext cx="5434251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2022–2024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21648" y="4494848"/>
            <a:ext cx="5434251" cy="141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and deployed million-resource infrastructure with Ansible, Kubernetes and Terraform, achieving +25% efficiency and $3M annual savings.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33006" y="5259705"/>
            <a:ext cx="663773" cy="30480"/>
          </a:xfrm>
          <a:prstGeom prst="roundRect">
            <a:avLst>
              <a:gd name="adj" fmla="val 304935"/>
            </a:avLst>
          </a:prstGeom>
          <a:solidFill>
            <a:srgbClr val="C6B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66300" y="5026104"/>
            <a:ext cx="497800" cy="497800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618" y="5046762"/>
            <a:ext cx="365046" cy="456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888688" y="5102066"/>
            <a:ext cx="4320064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 Hat — Ansible Software QE</a:t>
            </a:r>
            <a:endParaRPr lang="en-US" sz="2350" dirty="0"/>
          </a:p>
        </p:txBody>
      </p:sp>
      <p:sp>
        <p:nvSpPr>
          <p:cNvPr id="20" name="Text 18"/>
          <p:cNvSpPr/>
          <p:nvPr/>
        </p:nvSpPr>
        <p:spPr>
          <a:xfrm>
            <a:off x="774502" y="5615226"/>
            <a:ext cx="5434251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2019–2022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4502" y="6102072"/>
            <a:ext cx="5434251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 frameworks for 2,000+ cloud use cases across AWS and Azure. Contributed to Log4Shell Ansible remediation adopted by millions.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504825"/>
            <a:ext cx="5486400" cy="7219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3517" y="415528"/>
            <a:ext cx="4035504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Select Client Impact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13517" y="1359932"/>
            <a:ext cx="8116967" cy="1338501"/>
          </a:xfrm>
          <a:prstGeom prst="roundRect">
            <a:avLst>
              <a:gd name="adj" fmla="val 5465"/>
            </a:avLst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13517" y="1344692"/>
            <a:ext cx="8116967" cy="60960"/>
          </a:xfrm>
          <a:prstGeom prst="roundRect">
            <a:avLst>
              <a:gd name="adj" fmla="val 101106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351913" y="1139904"/>
            <a:ext cx="440174" cy="440174"/>
          </a:xfrm>
          <a:prstGeom prst="roundRect">
            <a:avLst>
              <a:gd name="adj" fmla="val 207736"/>
            </a:avLst>
          </a:prstGeom>
          <a:solidFill>
            <a:srgbClr val="6237C8"/>
          </a:solidFill>
          <a:ln/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483953" y="1249918"/>
            <a:ext cx="176093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5442" y="1726763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Safran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75442" y="2066925"/>
            <a:ext cx="7793117" cy="469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with Red Hat OpenShift AI + GPU Device Plugin, NVIDIA MIG, ClearML, and Run:ai. Secured multi-tenant GPU training with ~40% infrastructure overhead reduction.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3517" y="3065145"/>
            <a:ext cx="8116967" cy="1338501"/>
          </a:xfrm>
          <a:prstGeom prst="roundRect">
            <a:avLst>
              <a:gd name="adj" fmla="val 5465"/>
            </a:avLst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3517" y="3049905"/>
            <a:ext cx="8116967" cy="60960"/>
          </a:xfrm>
          <a:prstGeom prst="roundRect">
            <a:avLst>
              <a:gd name="adj" fmla="val 101106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51913" y="2845118"/>
            <a:ext cx="440174" cy="440174"/>
          </a:xfrm>
          <a:prstGeom prst="roundRect">
            <a:avLst>
              <a:gd name="adj" fmla="val 207736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83953" y="2955131"/>
            <a:ext cx="176093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5442" y="3431977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Société Générale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75442" y="3772138"/>
            <a:ext cx="7793117" cy="469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disaster recovery for 25,000+ VMware VMs using Dell PowerMax + Ansible with custom Python dynamic inventory, enabling near-seamless failover and failback.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13517" y="4770358"/>
            <a:ext cx="8116967" cy="1338501"/>
          </a:xfrm>
          <a:prstGeom prst="roundRect">
            <a:avLst>
              <a:gd name="adj" fmla="val 5465"/>
            </a:avLst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3517" y="4755118"/>
            <a:ext cx="8116967" cy="60960"/>
          </a:xfrm>
          <a:prstGeom prst="roundRect">
            <a:avLst>
              <a:gd name="adj" fmla="val 101106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51913" y="4550331"/>
            <a:ext cx="440174" cy="440174"/>
          </a:xfrm>
          <a:prstGeom prst="roundRect">
            <a:avLst>
              <a:gd name="adj" fmla="val 207736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483953" y="4660344"/>
            <a:ext cx="176093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75442" y="5137190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ABN AMRO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75442" y="5477351"/>
            <a:ext cx="7793117" cy="469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Ansible Automation Platform with Azure Pipelines, managing 85,000+ resources via Ansible, Bicep, and ARM templates.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13517" y="6475571"/>
            <a:ext cx="8116967" cy="1338501"/>
          </a:xfrm>
          <a:prstGeom prst="roundRect">
            <a:avLst>
              <a:gd name="adj" fmla="val 5465"/>
            </a:avLst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3517" y="6460331"/>
            <a:ext cx="8116967" cy="60960"/>
          </a:xfrm>
          <a:prstGeom prst="roundRect">
            <a:avLst>
              <a:gd name="adj" fmla="val 101106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351913" y="6255544"/>
            <a:ext cx="440174" cy="440174"/>
          </a:xfrm>
          <a:prstGeom prst="roundRect">
            <a:avLst>
              <a:gd name="adj" fmla="val 207736"/>
            </a:avLst>
          </a:prstGeom>
          <a:solidFill>
            <a:srgbClr val="6237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483953" y="6365558"/>
            <a:ext cx="176093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75442" y="6842403"/>
            <a:ext cx="2017752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LevelUP ESG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75442" y="7182564"/>
            <a:ext cx="7793117" cy="469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Architected AI-driven ESG calculators serving 100+ SMEs, enabling accessible sustainability measurement for organizations without enterprise budgets.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562689"/>
            <a:ext cx="5627965" cy="70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Published Author</a:t>
            </a:r>
            <a:endParaRPr lang="en-US" sz="44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r="19657"/>
          <a:stretch>
            <a:fillRect/>
          </a:stretch>
        </p:blipFill>
        <p:spPr>
          <a:xfrm>
            <a:off x="12139" y="1702895"/>
            <a:ext cx="7300011" cy="511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2494" y="1777603"/>
            <a:ext cx="2916674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Seven Technical Books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72494" y="2333744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RHEL AI 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/Springer, Dec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2494" y="2732723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Recipes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Apress/Springer, Apr 2025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2494" y="3131701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 Enterprise Linux 9 for SysAdmins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BPB, Feb 2025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2494" y="3530679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Mastering the RHCE Exam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BPB, Dec 2024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2494" y="3929658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 Ansible Automation Platform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BPB, Dec 2023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72494" y="4328636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Ansible for Kubernetes by Example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Apress, May 2023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72494" y="4727615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Ansible for VMware by Examples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Apress, Dec 2022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94479"/>
            <a:ext cx="7555825" cy="74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Speaking &amp; Advisory Topics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642" y="1769983"/>
            <a:ext cx="540425" cy="540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7220" y="1898333"/>
            <a:ext cx="4056221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 Engineering at Scale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567220" y="2399586"/>
            <a:ext cx="5612844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from automating ~1M resources with Kubernetes, Terraform, CI/CD, and policy compliance baked in from day one.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0217" y="1769983"/>
            <a:ext cx="540425" cy="5404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0794" y="1898333"/>
            <a:ext cx="2972872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Pragmatic MLOps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8260794" y="2399586"/>
            <a:ext cx="5612963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prototype to production—feature stores, model orchestration, observability, and cost control strategies that work.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642" y="3869531"/>
            <a:ext cx="540425" cy="5404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67220" y="3997881"/>
            <a:ext cx="2972872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Secure AI &amp; Cloud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567220" y="4499134"/>
            <a:ext cx="5612844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SOC2/ISO27001 aligned platforms with runtime security and eBPF-powered visibility using Tetragon.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0217" y="3869531"/>
            <a:ext cx="540425" cy="5404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0794" y="3997881"/>
            <a:ext cx="3121938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GPU Workloads on K8s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8260794" y="4499134"/>
            <a:ext cx="5612963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GPU orchestration with MIG and DRA, intelligent scheduling, and cost-performance trade-offs.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642" y="5969079"/>
            <a:ext cx="540425" cy="5404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67220" y="6097429"/>
            <a:ext cx="2972872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ESG Technology</a:t>
            </a:r>
            <a:endParaRPr lang="en-US" sz="2300" dirty="0"/>
          </a:p>
        </p:txBody>
      </p:sp>
      <p:sp>
        <p:nvSpPr>
          <p:cNvPr id="17" name="Text 10"/>
          <p:cNvSpPr/>
          <p:nvPr/>
        </p:nvSpPr>
        <p:spPr>
          <a:xfrm>
            <a:off x="1567220" y="6598682"/>
            <a:ext cx="5612844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AI-powered ESG calculators for SMBs—data architecture, calculation methods, and measurable impact.</a:t>
            </a:r>
            <a:endParaRPr lang="en-US" sz="17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0217" y="5969079"/>
            <a:ext cx="540425" cy="5404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60794" y="6097429"/>
            <a:ext cx="2980492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Hands-On Workshops</a:t>
            </a:r>
            <a:endParaRPr lang="en-US" sz="2300" dirty="0"/>
          </a:p>
        </p:txBody>
      </p:sp>
      <p:sp>
        <p:nvSpPr>
          <p:cNvPr id="20" name="Text 12"/>
          <p:cNvSpPr/>
          <p:nvPr/>
        </p:nvSpPr>
        <p:spPr>
          <a:xfrm>
            <a:off x="8260794" y="6598682"/>
            <a:ext cx="5612963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labs covering Kubernetes, Ansible, Terraform, CI/CD pipelines, and cloud automation best practices.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761" y="622578"/>
            <a:ext cx="7414736" cy="77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Multi-Platform Instructor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6278761" y="1966674"/>
            <a:ext cx="2124551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Coursera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78761" y="2582108"/>
            <a:ext cx="212455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Operationalizing ML Models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78761" y="3385899"/>
            <a:ext cx="2124551" cy="144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 to Chip Design with Open Source EDA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78761" y="4914305"/>
            <a:ext cx="212455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Validation with Postman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78761" y="5718096"/>
            <a:ext cx="212455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 Infrastructure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963144" y="1966674"/>
            <a:ext cx="2124551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Pluralsight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8963144" y="2582108"/>
            <a:ext cx="2124551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Azure DevTest Labs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963144" y="3748207"/>
            <a:ext cx="2124551" cy="181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Learning &amp; Privacy-preserving RAGs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963144" y="5638919"/>
            <a:ext cx="2124551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K8s Labs: Storage &amp; Scheduling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963144" y="6805017"/>
            <a:ext cx="212455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IT Ops Sessions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1647527" y="1966674"/>
            <a:ext cx="2205633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Educative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11647527" y="2582108"/>
            <a:ext cx="2205633" cy="108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Automating IT Infrastructure with Ansible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647527" y="3895368"/>
            <a:ext cx="2205633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YouTube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11647527" y="4510802"/>
            <a:ext cx="2205633" cy="2173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~50K views/month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Ansible &amp; Terraform Pilot channel with 300+ hands-on demos and use cases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7439"/>
            <a:ext cx="8029813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Certifications &amp; Credentials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2650688"/>
            <a:ext cx="6407944" cy="1357789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224" y="288512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RHCSA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028224" y="341114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 Certified System Administrator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650688"/>
            <a:ext cx="6408063" cy="1357789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62982" y="288512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LFCE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662982" y="3411141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Foundation Certified Engineer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235291"/>
            <a:ext cx="6407944" cy="1357789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224" y="446972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AWS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028224" y="499574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 &amp; Database Certifications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235291"/>
            <a:ext cx="6408063" cy="1357789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62982" y="446972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Tetragon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662982" y="499574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Cisco/Isovalent Security Visibility Architect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848231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D0C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192322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6131719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Italian (native), English (professional), French (limited), Czech &amp; Dutch (elementary)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562689"/>
            <a:ext cx="5627965" cy="70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Let's Connect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1803202"/>
            <a:ext cx="6349246" cy="6349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2494" y="1777603"/>
            <a:ext cx="2813923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Luca Berton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72494" y="2333744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Amsterdam, Netherlands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2494" y="2845356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+31 6 1225 5399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2494" y="3356967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u="sng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luca@lucaberton.com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2494" y="3868579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lucaberton.com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2494" y="4380190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linkedin.com/in/lucaberton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72494" y="4891802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Ansible Pilot: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ansiblepilot.com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72494" y="5551614"/>
            <a:ext cx="6349246" cy="33099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72494" y="5814774"/>
            <a:ext cx="6349246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for speaking engagements, workshops, and advisory services. Please include audience size, event date, format, topics, and desired outcomes.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799</Words>
  <Application>Microsoft Macintosh PowerPoint</Application>
  <PresentationFormat>Custom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Petrona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Luca Berton</cp:lastModifiedBy>
  <cp:revision>5</cp:revision>
  <dcterms:created xsi:type="dcterms:W3CDTF">2025-11-05T14:17:58Z</dcterms:created>
  <dcterms:modified xsi:type="dcterms:W3CDTF">2025-11-05T14:36:38Z</dcterms:modified>
</cp:coreProperties>
</file>